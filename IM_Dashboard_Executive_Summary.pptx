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/Users/derek/Claude/IM%20Dashboard/im_dashboard.md" TargetMode="External" /><Relationship Id="rId3" Type="http://schemas.openxmlformats.org/officeDocument/2006/relationships/hyperlink" Target="/Users/derek/Claude/IM%20Dashboard/Centralized%20Implementation%20Manager%20(IM)%20Dashboard%20and%20HubSpot%20Synchronization.md" TargetMode="External" /><Relationship Id="rId4" Type="http://schemas.openxmlformats.org/officeDocument/2006/relationships/hyperlink" Target="/Users/derek/Claude/IM%20Dashboard/IM%20Hubspot%20API%20Proposal.md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Implementation Manager Dashboard - Executive Summary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Project Title:</a:t>
            </a:r>
            <a:r>
              <a:rPr/>
              <a:t> Implementation Manager (IM) Dashboard</a:t>
            </a:r>
          </a:p>
          <a:p>
            <a:pPr lvl="0" indent="0" marL="0">
              <a:buNone/>
            </a:pPr>
            <a:r>
              <a:rPr b="1"/>
              <a:t>Brief Description:</a:t>
            </a:r>
            <a:r>
              <a:rPr/>
              <a:t> A centralized internal application serving as the “Implementation Command Console” for ParentSquare. Establishes a single source of truth for implementation project status, health monitoring, and workflows, integrating with HubSpot, Jira, Zendesk, and ParentSquare usage systems. Reduces manual work by 75% while improving data quality and visibility across the organization.</a:t>
            </a:r>
          </a:p>
          <a:p>
            <a:pPr lvl="0" indent="0" marL="0">
              <a:buNone/>
            </a:pPr>
            <a:r>
              <a:rPr b="1"/>
              <a:t>Project Lead Name:</a:t>
            </a:r>
            <a:r>
              <a:rPr/>
              <a:t> Derek McBride</a:t>
            </a:r>
          </a:p>
          <a:p>
            <a:pPr lvl="0" indent="0" marL="0">
              <a:buNone/>
            </a:pPr>
            <a:r>
              <a:rPr b="1"/>
              <a:t>Project Member Names:</a:t>
            </a:r>
            <a:r>
              <a:rPr/>
              <a:t> - Aimee Lem - Cody Dacus - Robert Smith</a:t>
            </a:r>
          </a:p>
          <a:p>
            <a:pPr lvl="0" indent="0" marL="0">
              <a:buNone/>
            </a:pPr>
            <a:r>
              <a:rPr b="1"/>
              <a:t>XFN Teams:</a:t>
            </a:r>
            <a:r>
              <a:rPr/>
              <a:t> - Implementation Manager Team (Primary Users) - RevOps/Sales Operations (HubSpot Integration) - Customer Success (Secondary Users) - Engineering (Development &amp; Maintenance) - Leadership (Strategic Oversight)</a:t>
            </a:r>
          </a:p>
          <a:p>
            <a:pPr lvl="0" indent="0" marL="0">
              <a:buNone/>
            </a:pPr>
            <a:r>
              <a:rPr b="1"/>
              <a:t>Links to Project Documentation:</a:t>
            </a:r>
            <a:r>
              <a:rPr/>
              <a:t> - </a:t>
            </a:r>
            <a:r>
              <a:rPr>
                <a:hlinkClick r:id="rId2"/>
              </a:rPr>
              <a:t>Full Technical Specification</a:t>
            </a:r>
            <a:r>
              <a:rPr/>
              <a:t> - </a:t>
            </a:r>
            <a:r>
              <a:rPr>
                <a:hlinkClick r:id="rId3"/>
              </a:rPr>
              <a:t>Centralized IM Dashboard &amp; HubSpot Sync Design</a:t>
            </a:r>
            <a:r>
              <a:rPr/>
              <a:t> - </a:t>
            </a:r>
            <a:r>
              <a:rPr>
                <a:hlinkClick r:id="rId4"/>
              </a:rPr>
              <a:t>IM HubSpot API Proposal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Managers currently face critical productivity and data quality challenges:</a:t>
            </a:r>
          </a:p>
          <a:p>
            <a:pPr lvl="0"/>
            <a:r>
              <a:rPr b="1"/>
              <a:t>Fragmented data sources</a:t>
            </a:r>
            <a:r>
              <a:rPr/>
              <a:t> requiring manual aggregation from HubSpot, Jira, Zendesk, and product usage systems</a:t>
            </a:r>
          </a:p>
          <a:p>
            <a:pPr lvl="0"/>
            <a:r>
              <a:rPr b="1"/>
              <a:t>Inconsistent HubSpot data</a:t>
            </a:r>
            <a:r>
              <a:rPr/>
              <a:t> where deal stages and fields don’t reflect actual implementation reality</a:t>
            </a:r>
          </a:p>
          <a:p>
            <a:pPr lvl="0"/>
            <a:r>
              <a:rPr b="1"/>
              <a:t>Manual synchronization burden</a:t>
            </a:r>
            <a:r>
              <a:rPr/>
              <a:t> consuming 30-45 minutes per day per IM, leading to reporting delays and data drift</a:t>
            </a:r>
          </a:p>
          <a:p>
            <a:pPr lvl="0"/>
            <a:r>
              <a:rPr b="1"/>
              <a:t>Limited visibility</a:t>
            </a:r>
            <a:r>
              <a:rPr/>
              <a:t> into contact coverage gaps and implementation health signals</a:t>
            </a:r>
          </a:p>
          <a:p>
            <a:pPr lvl="0"/>
            <a:r>
              <a:rPr b="1"/>
              <a:t>No unified workflow</a:t>
            </a:r>
            <a:r>
              <a:rPr/>
              <a:t> forcing IMs to context-switch between multiple systems daily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IM Dashboard</a:t>
            </a:r>
            <a:r>
              <a:rPr/>
              <a:t> is a centralized, net-new internal application that serves as the “Implementation Command Console” for ParentSquare. It establishes a </a:t>
            </a:r>
            <a:r>
              <a:rPr b="1"/>
              <a:t>single source of truth</a:t>
            </a:r>
            <a:r>
              <a:rPr/>
              <a:t> for implementation project status, health, and workflows.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Core Capabilities</a:t>
            </a:r>
          </a:p>
          <a:p>
            <a:pPr lvl="0" indent="0" marL="0">
              <a:buNone/>
            </a:pPr>
            <a:r>
              <a:rPr b="1"/>
              <a:t>For Implementation Managers:</a:t>
            </a:r>
            <a:r>
              <a:rPr/>
              <a:t> - Manage complete portfolio of implementation projects in one interface - Track milestone completion with automated HubSpot synchronization - Monitor customer health through aggregated signals from multiple systems - Ensure contact coverage by validating key stakeholder roles - </a:t>
            </a:r>
            <a:r>
              <a:rPr b="1"/>
              <a:t>Reduce manual work by 75%</a:t>
            </a:r>
            <a:r>
              <a:rPr/>
              <a:t> through automated status updates and intelligent workflows</a:t>
            </a:r>
          </a:p>
          <a:p>
            <a:pPr lvl="0" indent="0" marL="0">
              <a:buNone/>
            </a:pPr>
            <a:r>
              <a:rPr b="1"/>
              <a:t>For CS/Sales Teams:</a:t>
            </a:r>
            <a:r>
              <a:rPr/>
              <a:t> - Access real-time, reliable implementation data in HubSpot - View health status, phase progression, and contact coverage without interrupting IMs - Enable better forecasting and resource planning</a:t>
            </a:r>
          </a:p>
          <a:p>
            <a:pPr lvl="0" indent="0" marL="0">
              <a:buNone/>
            </a:pPr>
            <a:r>
              <a:rPr b="1"/>
              <a:t>For Leadership:</a:t>
            </a:r>
            <a:r>
              <a:rPr/>
              <a:t> - Portfolio-level visibility across all implementations - Accurate risk identification and trend analysis - Data-driven insights for team capacity planning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┌──────────────────────────────────────────────────────────┐
│                    IM DASHBOARD                          │
│              (Single Source of Truth)                    │
└──────────────────────────────────────────────────────────┘
                         │
         ┌───────────────┼───────────────┬──────────────┐
         ▼               ▼               ▼              ▼
   ┌─────────┐    ┌──────────┐    ┌─────────┐   ┌──────────┐
   │HubSpot  │    │   Jira   │    │Zendesk  │   │ParentSq  │
   │(Primary)│    │  (CROs)  │    │(Support)│   │ (Usage)  │
   │Bi-dir.  │    │Read-only │    │Read-only│   │Read-only │
   └─────────┘    └──────────┘    └─────────┘   └──────────┘</a:t>
            </a:r>
          </a:p>
          <a:p>
            <a:pPr lvl="0" indent="0" marL="0">
              <a:buNone/>
            </a:pPr>
            <a:r>
              <a:rPr b="1"/>
              <a:t>Key Design Decisions:</a:t>
            </a:r>
            <a:r>
              <a:rPr/>
              <a:t> - Dashboard owns implementation phase and health data; HubSpot mirrors it - Bidirectional HubSpot sync with conservative stage automation (only 1-2 critical transitions in v1) - Multi-system health scoring (Jira tickets, Zendesk support, product usage, manual IM input) - Contact coverage validation flags gaps without creating records - Extensible architecture ready for future AI/ML enhancements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Time Savings</a:t>
            </a:r>
          </a:p>
          <a:p>
            <a:pPr lvl="0"/>
            <a:r>
              <a:rPr b="1"/>
              <a:t>Before:</a:t>
            </a:r>
            <a:r>
              <a:rPr/>
              <a:t> 30-45 min/day updating HubSpot manually per IM</a:t>
            </a:r>
          </a:p>
          <a:p>
            <a:pPr lvl="0"/>
            <a:r>
              <a:rPr b="1"/>
              <a:t>After:</a:t>
            </a:r>
            <a:r>
              <a:rPr/>
              <a:t> 5-10 min/day managing projects in dashboard</a:t>
            </a:r>
          </a:p>
          <a:p>
            <a:pPr lvl="0"/>
            <a:r>
              <a:rPr b="1"/>
              <a:t>Result:</a:t>
            </a:r>
            <a:r>
              <a:rPr/>
              <a:t> 75% reduction in administrative tasks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Financial Impact</a:t>
            </a:r>
          </a:p>
          <a:p>
            <a:pPr lvl="0" indent="0" marL="0">
              <a:buNone/>
            </a:pPr>
            <a:r>
              <a:rPr b="1"/>
              <a:t>Investment:</a:t>
            </a:r>
            <a:r>
              <a:rPr/>
              <a:t> $150k-$200k Year 1 - Development: 8-12 weeks (3-4 engineers) - Infrastructure: ~$20k/year - Maintenance: 0.5 FTE (~$60k/year)</a:t>
            </a:r>
          </a:p>
          <a:p>
            <a:pPr lvl="0" indent="0" marL="0">
              <a:buNone/>
            </a:pPr>
            <a:r>
              <a:rPr b="1"/>
              <a:t>Annual Value:</a:t>
            </a:r>
            <a:r>
              <a:rPr/>
              <a:t> $850k-$1.65M - IM time savings: $150k/year (15 IMs × 4 hours/week saved) - Improved retention (1-2 fewer churns): $500k-$1M/year - Better expansion (2-3 more upsells): $200k-$500k/year</a:t>
            </a:r>
          </a:p>
          <a:p>
            <a:pPr lvl="0" indent="0" marL="0">
              <a:buNone/>
            </a:pPr>
            <a:r>
              <a:rPr b="1"/>
              <a:t>ROI: 467% (conservative estimate)</a:t>
            </a:r>
          </a:p>
          <a:p>
            <a:pPr lvl="0" indent="0" marL="0">
              <a:buNone/>
            </a:pPr>
            <a:r>
              <a:rPr b="1"/>
              <a:t>Payback Period: 2-3 months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Phase 1 (8-12 weeks) - MVP</a:t>
            </a:r>
          </a:p>
          <a:p>
            <a:pPr lvl="0"/>
            <a:r>
              <a:rPr/>
              <a:t>Core portfolio management and project tracking</a:t>
            </a:r>
          </a:p>
          <a:p>
            <a:pPr lvl="0"/>
            <a:r>
              <a:rPr/>
              <a:t>Basic HubSpot bidirectional sync</a:t>
            </a:r>
          </a:p>
          <a:p>
            <a:pPr lvl="0"/>
            <a:r>
              <a:rPr/>
              <a:t>Health monitoring with manual override</a:t>
            </a:r>
          </a:p>
          <a:p>
            <a:pPr lvl="0"/>
            <a:r>
              <a:rPr/>
              <a:t>Contact coverage validation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2 (Months 4-6)</a:t>
            </a:r>
          </a:p>
          <a:p>
            <a:pPr lvl="0"/>
            <a:r>
              <a:rPr/>
              <a:t>Jira CRO integration (read-only)</a:t>
            </a:r>
          </a:p>
          <a:p>
            <a:pPr lvl="0"/>
            <a:r>
              <a:rPr/>
              <a:t>Zendesk support ticket integration</a:t>
            </a:r>
          </a:p>
          <a:p>
            <a:pPr lvl="0"/>
            <a:r>
              <a:rPr/>
              <a:t>ParentSquare usage analytics integration</a:t>
            </a:r>
          </a:p>
          <a:p>
            <a:pPr lvl="0"/>
            <a:r>
              <a:rPr/>
              <a:t>Advanced health scoring algorithm</a:t>
            </a:r>
          </a:p>
          <a:p>
            <a:pPr lvl="0"/>
            <a:r>
              <a:rPr/>
              <a:t>Automated alerting and notifications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3 (Months 7-9)</a:t>
            </a:r>
          </a:p>
          <a:p>
            <a:pPr lvl="0"/>
            <a:r>
              <a:rPr/>
              <a:t>Predictive health modeling (AI/ML)</a:t>
            </a:r>
          </a:p>
          <a:p>
            <a:pPr lvl="0"/>
            <a:r>
              <a:rPr/>
              <a:t>Advanced analytics and reporting</a:t>
            </a:r>
          </a:p>
          <a:p>
            <a:pPr lvl="0"/>
            <a:r>
              <a:rPr/>
              <a:t>Mobile-responsive interface</a:t>
            </a:r>
          </a:p>
          <a:p>
            <a:pPr lvl="0"/>
            <a:r>
              <a:rPr/>
              <a:t>Enhanced workflow automation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Operational Efficiency:</a:t>
            </a:r>
            <a:r>
              <a:rPr/>
              <a:t> - 75% reduction in manual HubSpot update time - 90% on-time milestone tracking - &lt;5% data sync errors</a:t>
            </a:r>
          </a:p>
          <a:p>
            <a:pPr lvl="0" indent="0" marL="0">
              <a:buNone/>
            </a:pPr>
            <a:r>
              <a:rPr b="1"/>
              <a:t>Data Quality:</a:t>
            </a:r>
            <a:r>
              <a:rPr/>
              <a:t> - 95% HubSpot data accuracy - 100% implementation phase visibility - Real-time health status reporting</a:t>
            </a:r>
          </a:p>
          <a:p>
            <a:pPr lvl="0" indent="0" marL="0">
              <a:buNone/>
            </a:pPr>
            <a:r>
              <a:rPr b="1"/>
              <a:t>Business Outcomes:</a:t>
            </a:r>
            <a:r>
              <a:rPr/>
              <a:t> - 10% improvement in implementation on-time completion (Year 1) - 5% improvement in customer retention during implementation - 15% increase in IM capacity (same headcount, more implementations)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Stakeholder Alignment</a:t>
            </a:r>
            <a:r>
              <a:rPr/>
              <a:t> - Validate with IM team, RevOps/Sales, Engineering, and Leadership</a:t>
            </a:r>
          </a:p>
          <a:p>
            <a:pPr lvl="0" indent="-342900" marL="342900">
              <a:buAutoNum type="arabicPeriod"/>
            </a:pPr>
            <a:r>
              <a:rPr b="1"/>
              <a:t>Technical Validation</a:t>
            </a:r>
            <a:r>
              <a:rPr/>
              <a:t> - Confirm HubSpot API capabilities and integration approach</a:t>
            </a:r>
          </a:p>
          <a:p>
            <a:pPr lvl="0" indent="-342900" marL="342900">
              <a:buAutoNum type="arabicPeriod"/>
            </a:pPr>
            <a:r>
              <a:rPr b="1"/>
              <a:t>Resource Allocation</a:t>
            </a:r>
            <a:r>
              <a:rPr/>
              <a:t> - Secure 3-4 engineers for 8-12 week sprint</a:t>
            </a:r>
          </a:p>
          <a:p>
            <a:pPr lvl="0" indent="-342900" marL="342900">
              <a:buAutoNum type="arabicPeriod"/>
            </a:pPr>
            <a:r>
              <a:rPr b="1"/>
              <a:t>Requirements Finalization</a:t>
            </a:r>
            <a:r>
              <a:rPr/>
              <a:t> - Address open questions and finalize v1 scope</a:t>
            </a:r>
          </a:p>
          <a:p>
            <a:pPr lvl="0" indent="-342900" marL="342900">
              <a:buAutoNum type="arabicPeriod"/>
            </a:pPr>
            <a:r>
              <a:rPr b="1"/>
              <a:t>Sprint 0</a:t>
            </a:r>
            <a:r>
              <a:rPr/>
              <a:t> - Infrastructure setup, HubSpot sandbox, and technical design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dashboard is not just a productivity tool—it’s a </a:t>
            </a:r>
            <a:r>
              <a:rPr b="1"/>
              <a:t>transformation of how ParentSquare manages implementation success</a:t>
            </a:r>
            <a:r>
              <a:rPr/>
              <a:t>. With a 467% ROI and 2-3 month payback period, this represents a high-value investment that will scale with the business and provide compounding benefits over time.</a:t>
            </a:r>
          </a:p>
          <a:p>
            <a:pPr lvl="0" indent="0" marL="0">
              <a:buNone/>
            </a:pPr>
            <a:r>
              <a:rPr b="1"/>
              <a:t>Approval requested to proceed with Phase 1 development.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2025-11-20T16:45:04Z</dcterms:created>
  <dcterms:modified xsi:type="dcterms:W3CDTF">2025-11-20T16:45:04Z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